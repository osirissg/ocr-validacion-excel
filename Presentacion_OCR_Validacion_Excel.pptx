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34df81c6974477" /><Relationship Type="http://schemas.openxmlformats.org/officeDocument/2006/relationships/extended-properties" Target="/docProps/app.xml" Id="R73ecf338de50474a" /><Relationship Type="http://schemas.openxmlformats.org/officeDocument/2006/relationships/officeDocument" Target="/ppt/presentation.xml" Id="Rd344aa08c01043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6b80399f344089"/>
  </p:sldMasterIdLst>
  <p:notesMasterIdLst>
    <p:notesMasterId xmlns:r="http://schemas.openxmlformats.org/officeDocument/2006/relationships" r:id="Rd34754a74fe14017"/>
  </p:notesMasterIdLst>
  <p:sldIdLst>
    <p:sldId xmlns:r="http://schemas.openxmlformats.org/officeDocument/2006/relationships" id="256" r:id="R9084f4fee2494f4f"/>
    <p:sldId xmlns:r="http://schemas.openxmlformats.org/officeDocument/2006/relationships" id="257" r:id="R457cf51b0da84daa"/>
    <p:sldId xmlns:r="http://schemas.openxmlformats.org/officeDocument/2006/relationships" id="258" r:id="R6e1624f8407e491c"/>
    <p:sldId xmlns:r="http://schemas.openxmlformats.org/officeDocument/2006/relationships" id="259" r:id="Ra581685bcca04411"/>
    <p:sldId xmlns:r="http://schemas.openxmlformats.org/officeDocument/2006/relationships" id="260" r:id="R7d96098908f94d1a"/>
    <p:sldId xmlns:r="http://schemas.openxmlformats.org/officeDocument/2006/relationships" id="261" r:id="R07269a4e4cd94691"/>
    <p:sldId xmlns:r="http://schemas.openxmlformats.org/officeDocument/2006/relationships" id="262" r:id="R2a5daeffa0784d39"/>
    <p:sldId xmlns:r="http://schemas.openxmlformats.org/officeDocument/2006/relationships" id="263" r:id="Rb2ad27a7a9d14dbd"/>
    <p:sldId xmlns:r="http://schemas.openxmlformats.org/officeDocument/2006/relationships" id="264" r:id="R579481652cd94436"/>
    <p:sldId xmlns:r="http://schemas.openxmlformats.org/officeDocument/2006/relationships" id="265" r:id="R0204f487c5814e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0ff010e4e54360" /><Relationship Type="http://schemas.openxmlformats.org/officeDocument/2006/relationships/slideMaster" Target="/ppt/slideMasters/slideMaster1.xml" Id="Re26b80399f344089" /><Relationship Type="http://schemas.openxmlformats.org/officeDocument/2006/relationships/notesMaster" Target="/ppt/notesMasters/notesMaster1.xml" Id="Rd34754a74fe14017" /><Relationship Type="http://schemas.openxmlformats.org/officeDocument/2006/relationships/presProps" Target="/ppt/presProps.xml" Id="Recac77d5339a4331" /><Relationship Type="http://schemas.openxmlformats.org/officeDocument/2006/relationships/tableStyles" Target="/ppt/tableStyles.xml" Id="R8bdca3c590a641e0" /><Relationship Type="http://schemas.openxmlformats.org/officeDocument/2006/relationships/slide" Target="/ppt/slides/slide1.xml" Id="R9084f4fee2494f4f" /><Relationship Type="http://schemas.openxmlformats.org/officeDocument/2006/relationships/slide" Target="/ppt/slides/slide2.xml" Id="R457cf51b0da84daa" /><Relationship Type="http://schemas.openxmlformats.org/officeDocument/2006/relationships/slide" Target="/ppt/slides/slide3.xml" Id="R6e1624f8407e491c" /><Relationship Type="http://schemas.openxmlformats.org/officeDocument/2006/relationships/slide" Target="/ppt/slides/slide4.xml" Id="Ra581685bcca04411" /><Relationship Type="http://schemas.openxmlformats.org/officeDocument/2006/relationships/slide" Target="/ppt/slides/slide5.xml" Id="R7d96098908f94d1a" /><Relationship Type="http://schemas.openxmlformats.org/officeDocument/2006/relationships/slide" Target="/ppt/slides/slide6.xml" Id="R07269a4e4cd94691" /><Relationship Type="http://schemas.openxmlformats.org/officeDocument/2006/relationships/slide" Target="/ppt/slides/slide7.xml" Id="R2a5daeffa0784d39" /><Relationship Type="http://schemas.openxmlformats.org/officeDocument/2006/relationships/slide" Target="/ppt/slides/slide8.xml" Id="Rb2ad27a7a9d14dbd" /><Relationship Type="http://schemas.openxmlformats.org/officeDocument/2006/relationships/slide" Target="/ppt/slides/slide9.xml" Id="R579481652cd94436" /><Relationship Type="http://schemas.openxmlformats.org/officeDocument/2006/relationships/slide" Target="/ppt/slides/slide10.xml" Id="R0204f487c5814e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ce18c4796f49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848e085b504387" /><Relationship Type="http://schemas.openxmlformats.org/officeDocument/2006/relationships/notesMaster" Target="/ppt/notesMasters/notesMaster1.xml" Id="Racb3339e4eae4e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70c9de485847b8" /><Relationship Type="http://schemas.openxmlformats.org/officeDocument/2006/relationships/notesMaster" Target="/ppt/notesMasters/notesMaster1.xml" Id="Re26859c4421a4b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0454d0dbe14194" /><Relationship Type="http://schemas.openxmlformats.org/officeDocument/2006/relationships/notesMaster" Target="/ppt/notesMasters/notesMaster1.xml" Id="R18900aeacdce4b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eb2fafb6394f00" /><Relationship Type="http://schemas.openxmlformats.org/officeDocument/2006/relationships/notesMaster" Target="/ppt/notesMasters/notesMaster1.xml" Id="R0a55a6fce42d41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a8802cdc02484b" /><Relationship Type="http://schemas.openxmlformats.org/officeDocument/2006/relationships/notesMaster" Target="/ppt/notesMasters/notesMaster1.xml" Id="R2ad3677a1d4e48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0b4c7d88444975" /><Relationship Type="http://schemas.openxmlformats.org/officeDocument/2006/relationships/notesMaster" Target="/ppt/notesMasters/notesMaster1.xml" Id="Red9c7c2afdc647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bd2700c174476c" /><Relationship Type="http://schemas.openxmlformats.org/officeDocument/2006/relationships/notesMaster" Target="/ppt/notesMasters/notesMaster1.xml" Id="R399dc592216043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5804fd70904dff" /><Relationship Type="http://schemas.openxmlformats.org/officeDocument/2006/relationships/notesMaster" Target="/ppt/notesMasters/notesMaster1.xml" Id="Ra8049a4998f84f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49cfef95514c48" /><Relationship Type="http://schemas.openxmlformats.org/officeDocument/2006/relationships/notesMaster" Target="/ppt/notesMasters/notesMaster1.xml" Id="R8a338d169ba94f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8c107a06e64c20" /><Relationship Type="http://schemas.openxmlformats.org/officeDocument/2006/relationships/notesMaster" Target="/ppt/notesMasters/notesMaster1.xml" Id="Rb74093c6fd2145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objetivo en una frase: convertir una carpeta de evidencias fotográficas en resultados verificables sin enviar archivos a servicios externos. Aclarar que la demostración utiliza datos sintéticos.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/Users/osirissilvagarcia/proyecto_ocr/README.md</a:t>
            </a:r>
          </a:p>
          <a:p xmlns:a="http://schemas.openxmlformats.org/drawingml/2006/main">
            <a:r>
              <a:t>- /Users/osirissilvagarcia/proyecto_ocr/docs/fase4_dashboard.md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valor no está solamente en reconocer texto: el sistema conserva la ruta, el origen, la comparación y el criterio que produjo cada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/Users/osirissilvagarcia/proyecto_ocr/README.md</a:t>
            </a:r>
          </a:p>
          <a:p xmlns:a="http://schemas.openxmlformats.org/drawingml/2006/main">
            <a:r>
              <a:t>- /Users/osirissilvagarcia/proyecto_ocr/docs/fase0_autodescubrimiento.md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de izquierda a derecha. Destacar que cada fase deja un contrato de entrada y salida documentado; esto permite modificar una parte sin reescribir todo 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/Users/osirissilvagarcia/proyecto_ocr/pipeline.py</a:t>
            </a:r>
          </a:p>
          <a:p xmlns:a="http://schemas.openxmlformats.org/drawingml/2006/main">
            <a:r>
              <a:t>- /Users/osirissilvagarcia/proyecto_ocr/docs/fase0_autodescubrimiento.md</a:t>
            </a:r>
          </a:p>
          <a:p xmlns:a="http://schemas.openxmlformats.org/drawingml/2006/main">
            <a:r>
              <a:t>- /Users/osirissilvagarcia/proyecto_ocr/docs/fase1_ocr.md</a:t>
            </a:r>
          </a:p>
          <a:p xmlns:a="http://schemas.openxmlformats.org/drawingml/2006/main">
            <a:r>
              <a:t>- /Users/osirissilvagarcia/proyecto_ocr/docs/fase2_validacion.md</a:t>
            </a:r>
          </a:p>
          <a:p xmlns:a="http://schemas.openxmlformats.org/drawingml/2006/main">
            <a:r>
              <a:t>- /Users/osirissilvagarcia/proyecto_ocr/docs/fase3_excel.md</a:t>
            </a:r>
          </a:p>
          <a:p xmlns:a="http://schemas.openxmlformats.org/drawingml/2006/main">
            <a:r>
              <a:t>- /Users/osirissilvagarcia/proyecto_ocr/docs/fase4_dashboard.md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la imagen para explicar que la posición del texto no se fija con coordenadas rígidas. El ROI es conservador para evitar cortar códigos y se conserva una segunda lectura de seguridad.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/Users/osirissilvagarcia/proyecto_ocr/docs/fase1_ocr.md</a:t>
            </a:r>
          </a:p>
          <a:p xmlns:a="http://schemas.openxmlformats.org/drawingml/2006/main">
            <a:r>
              <a:t>- /Users/osirissilvagarcia/proyecto_ocr/datos_prueba/casos_ocr/caso_a_qr_texto_arriba.png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el objetivo es comparar nomenclaturas alfanuméricas. La imagen de referencia puede elegirse por pista en el nombre o por densidad de texto; si no hay un ganador claro, el sistema evita adivinar.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/Users/osirissilvagarcia/proyecto_ocr/docs/fase2_validacion.md</a:t>
            </a:r>
          </a:p>
          <a:p xmlns:a="http://schemas.openxmlformats.org/drawingml/2006/main">
            <a:r>
              <a:t>- /Users/osirissilvagarcia/proyecto_ocr/config.yaml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Responder la duda del evaluador con el ejemplo: un OCR excelente no compensa una nomenclatura discrepante. Los rangos no están codificados en Python ni JavaScript; se leen del YAML.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/Users/osirissilvagarcia/proyecto_ocr/reglas_cumplimiento.yaml</a:t>
            </a:r>
          </a:p>
          <a:p xmlns:a="http://schemas.openxmlformats.org/drawingml/2006/main">
            <a:r>
              <a:t>- /Users/osirissilvagarcia/proyecto_ocr/docs/fase3_excel.md</a:t>
            </a:r>
          </a:p>
          <a:p xmlns:a="http://schemas.openxmlformats.org/drawingml/2006/main">
            <a:r>
              <a:t>- /Users/osirissilvagarcia/proyecto_ocr/docs/fase4_dashboard.md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vender estos porcentajes como precisión del modelo. Son el estado del lote sintético que demuestra que estructura, OCR, reglas, Excel y dashboard comparten datos coherentes.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/Users/osirissilvagarcia/proyecto_ocr/validacion_resultados.json</a:t>
            </a:r>
          </a:p>
          <a:p xmlns:a="http://schemas.openxmlformats.org/drawingml/2006/main">
            <a:r>
              <a:t>- Captura local de GET /api/resumen y dashboard, 2026-08-24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Excel sí se genera: resultado_maestro.xlsx contiene dos hojas. El dashboard no reemplaza el archivo; ofrece una lectura operativa de los mismos resultados y reglas.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/Users/osirissilvagarcia/proyecto_ocr/docs/fase3_excel.md</a:t>
            </a:r>
          </a:p>
          <a:p xmlns:a="http://schemas.openxmlformats.org/drawingml/2006/main">
            <a:r>
              <a:t>- /Users/osirissilvagarcia/proyecto_ocr/docs/fase4_dashboard.md</a:t>
            </a:r>
          </a:p>
          <a:p xmlns:a="http://schemas.openxmlformats.org/drawingml/2006/main">
            <a:r>
              <a:t>- /Users/osirissilvagarcia/proyecto_ocr/reglas_cumplimiento.yaml</a:t>
            </a:r>
          </a:p>
          <a:p xmlns:a="http://schemas.openxmlformats.org/drawingml/2006/main">
            <a:r>
              <a:t>- Capturas locales del dashboard, 2026-08-24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decisión de usar una ruta local resuelve el caso de carpetas grandes. Si el sistema se publicara en red, la documentación ya marca autenticación y HTTPS como requisitos adicionales.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/Users/osirissilvagarcia/proyecto_ocr/docs/fase4_dashboard.md</a:t>
            </a:r>
          </a:p>
          <a:p xmlns:a="http://schemas.openxmlformats.org/drawingml/2006/main">
            <a:r>
              <a:t>- /Users/osirissilvagarcia/proyecto_ocr/dashboard/backend/app.py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resolviendo la pregunta inicial: existe un producto funcional que puede ejecutarse y revisarse hoy. El entrenamiento no debe comenzar por intuición; primero se construye una línea base y un conjunto real etiquetado.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/Users/osirissilvagarcia/proyecto_ocr/README.md</a:t>
            </a:r>
          </a:p>
          <a:p xmlns:a="http://schemas.openxmlformats.org/drawingml/2006/main">
            <a:r>
              <a:t>- /Users/osirissilvagarcia/proyecto_ocr/docs/fase4_dashboard.md</a:t>
            </a:r>
          </a:p>
          <a:p xmlns:a="http://schemas.openxmlformats.org/drawingml/2006/main">
            <a:r>
              <a:t>- /Users/osirissilvagarcia/proyecto_ocr/pruebas/test_dashboard.py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d1235f876342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4513b9a1de4538" /><Relationship Type="http://schemas.openxmlformats.org/officeDocument/2006/relationships/slideLayout" Target="/ppt/slideLayouts/slideLayout1.xml" Id="Rcdef5e503ba54f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ef5e503ba54f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09cffecf34e6f" /><Relationship Type="http://schemas.openxmlformats.org/officeDocument/2006/relationships/image" Target="/ppt/media/image.jpeg" Id="Rcc745433ce484e18" /><Relationship Type="http://schemas.openxmlformats.org/officeDocument/2006/relationships/notesSlide" Target="/ppt/notesSlides/notesSlide1.xml" Id="Rd11605c32cb247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418d6b22245f2" /><Relationship Type="http://schemas.openxmlformats.org/officeDocument/2006/relationships/notesSlide" Target="/ppt/notesSlides/notesSlide2.xml" Id="R2845c6c4b4c54a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cc0fd572e4c4b" /><Relationship Type="http://schemas.openxmlformats.org/officeDocument/2006/relationships/notesSlide" Target="/ppt/notesSlides/notesSlide3.xml" Id="Rf437e426009f45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23982644940a2" /><Relationship Type="http://schemas.openxmlformats.org/officeDocument/2006/relationships/image" Target="/ppt/media/image.png" Id="Raa876eeaadab4b24" /><Relationship Type="http://schemas.openxmlformats.org/officeDocument/2006/relationships/notesSlide" Target="/ppt/notesSlides/notesSlide4.xml" Id="Rb85b635c698847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652cc8b774f38" /><Relationship Type="http://schemas.openxmlformats.org/officeDocument/2006/relationships/notesSlide" Target="/ppt/notesSlides/notesSlide5.xml" Id="R48bb0b02243e4d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f4adfcd05495a" /><Relationship Type="http://schemas.openxmlformats.org/officeDocument/2006/relationships/notesSlide" Target="/ppt/notesSlides/notesSlide6.xml" Id="Ra72c74344f0449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9cf7610e74ac9" /><Relationship Type="http://schemas.openxmlformats.org/officeDocument/2006/relationships/chart" Target="/ppt/slides/charts/chart1.xml" Id="R97e63e440d3b46fe" /><Relationship Type="http://schemas.openxmlformats.org/officeDocument/2006/relationships/notesSlide" Target="/ppt/notesSlides/notesSlide7.xml" Id="R5848528c5f7a42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30619b264407e" /><Relationship Type="http://schemas.openxmlformats.org/officeDocument/2006/relationships/image" Target="/ppt/media/image2.jpeg" Id="R091092a0750a499b" /><Relationship Type="http://schemas.openxmlformats.org/officeDocument/2006/relationships/image" Target="/ppt/media/image3.jpeg" Id="Rcef5a00303a84b6c" /><Relationship Type="http://schemas.openxmlformats.org/officeDocument/2006/relationships/image" Target="/ppt/media/image4.jpeg" Id="R4b6c7ab58050471a" /><Relationship Type="http://schemas.openxmlformats.org/officeDocument/2006/relationships/notesSlide" Target="/ppt/notesSlides/notesSlide8.xml" Id="R43a7e3d4b88346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33f6143da473b" /><Relationship Type="http://schemas.openxmlformats.org/officeDocument/2006/relationships/image" Target="/ppt/media/image5.jpeg" Id="R492979b3a7554792" /><Relationship Type="http://schemas.openxmlformats.org/officeDocument/2006/relationships/notesSlide" Target="/ppt/notesSlides/notesSlide9.xml" Id="Rfe79975a485047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a3cafb0dc4ae2" /><Relationship Type="http://schemas.openxmlformats.org/officeDocument/2006/relationships/notesSlide" Target="/ppt/notesSlides/notesSlide10.xml" Id="R83c20f1182f141a4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Carpetas</c:v>
          </c:tx>
          <c:dPt>
            <c:idx val="0"/>
            <c:spPr>
              <a:solidFill xmlns:a="http://schemas.openxmlformats.org/drawingml/2006/main">
                <a:srgbClr val="22C55E"/>
              </a:solidFill>
            </c:spPr>
          </c:dPt>
          <c:dPt>
            <c:idx val="1"/>
            <c:spPr>
              <a:solidFill xmlns:a="http://schemas.openxmlformats.org/drawingml/2006/main">
                <a:srgbClr val="F59E0B"/>
              </a:solidFill>
            </c:spPr>
          </c:dPt>
          <c:dPt>
            <c:idx val="2"/>
            <c:spPr>
              <a:solidFill xmlns:a="http://schemas.openxmlformats.org/drawingml/2006/main">
                <a:srgbClr val="EF4444"/>
              </a:solidFill>
            </c:spPr>
          </c:dPt>
          <c:dPt>
            <c:idx val="3"/>
            <c:spPr>
              <a:solidFill xmlns:a="http://schemas.openxmlformats.org/drawingml/2006/main">
                <a:srgbClr val="64748B"/>
              </a:solidFill>
            </c:spPr>
          </c:dPt>
          <c:cat>
            <c:strLit>
              <c:ptCount val="4"/>
              <c:pt idx="0">
                <c:v>Verde</c:v>
              </c:pt>
              <c:pt idx="1">
                <c:v>Amarillo</c:v>
              </c:pt>
              <c:pt idx="2">
                <c:v>Rojo</c:v>
              </c:pt>
              <c:pt idx="3">
                <c:v>Sin clasificar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2</c:v>
              </c:pt>
              <c:pt idx="3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showLegendKey val="0"/>
          <c:showVal val="1"/>
          <c:showCatName val="1"/>
          <c:showSerName val="0"/>
          <c:showPercent val="0"/>
          <c:showBubbleSize val="0"/>
          <c:showLeaderLines val="0"/>
        </c:dLbls>
        <c:firstSliceAng val="270"/>
        <c:holeSize val="62"/>
      </c:doughnutChart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1182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2B20D-B619-4728-A078-600E0720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PROYECTO DE EVALUACIÓN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06C525C-5D8D-4F3E-B842-01B33F46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OCR-Validación-</a:t>
            </a:r>
          </a:p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Excel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2DE369D-AF79-4745-975D-D27A814F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Sistema local para transformar lotes de imágenes en evidencia trazable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9349D-1282-40D2-B7C3-0EA96F4D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99B1E-BA2E-44F2-AB5A-8BECE496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Descubrimiento · OCR · validación · Excel ·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F3235-8671-4DFB-AEEA-A5CAD229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9100"/>
            <a:ext cx="4705350" cy="5829300"/>
          </a:xfrm>
          <a:prstGeom xmlns:a="http://schemas.openxmlformats.org/drawingml/2006/main" prst="roundRect">
            <a:avLst>
              <a:gd name="adj" fmla="val 2429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45433ce484e18"/>
          <a:stretch xmlns:a="http://schemas.openxmlformats.org/drawingml/2006/main"/>
        </p:blipFill>
        <p:spPr>
          <a:xfrm xmlns:a="http://schemas.openxmlformats.org/drawingml/2006/main">
            <a:off x="7753350" y="757115"/>
            <a:ext cx="2381250" cy="5153269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FD271-1123-43D1-A1CC-48EE781F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OsirisSG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92E08-38BE-4F9D-89E5-1A839AC6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115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github.com/OsirisSG/OCR-Validacion-Excel</a:t>
            </a:r>
          </a:p>
        </p:txBody>
      </p:sp>
    </p:spTree>
    <p:extLst>
      <p:ext uri="{BB962C8B-B14F-4D97-AF65-F5344CB8AC3E}">
        <p14:creationId xmlns:p14="http://schemas.microsoft.com/office/powerpoint/2010/main" val="827420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2">
            <a:extLst xmlns:a="http://schemas.openxmlformats.org/drawingml/2006/main">
              <a:ext uri="{FF2B5EF4-FFF2-40B4-BE49-F238E27FC236}">
                <a16:creationId xmlns:a16="http://schemas.microsoft.com/office/drawing/2014/main" id="{FA451DA9-7BB5-421F-91FE-AC5E2350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SISTEMA OCR LOCAL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712FFA8-0218-43D0-BB79-D63645D9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 carpetas dispersas a evidencia trazable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A4FC9-4807-4041-A199-7D47C7FC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CBD2DA"/>
            </a:solidFill>
            <a:prstDash val="solid"/>
          </a:ln>
        </p:spPr>
      </p:sp>
      <p:sp>
        <p:nvSpPr>
          <p:cNvPr id="4" name="footer-name-2">
            <a:extLst xmlns:a="http://schemas.openxmlformats.org/drawingml/2006/main">
              <a:ext uri="{FF2B5EF4-FFF2-40B4-BE49-F238E27FC236}">
                <a16:creationId xmlns:a16="http://schemas.microsoft.com/office/drawing/2014/main" id="{49E4D023-A088-451B-8DA8-66E0BFB9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OCR-Validación-Excel</a:t>
            </a:r>
          </a:p>
        </p:txBody>
      </p:sp>
      <p:sp>
        <p:nvSpPr>
          <p:cNvPr id="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5A87A945-D853-49E2-8F6C-38F38689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03C08-A416-404A-8C61-28CE1038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El problema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E79B1-2272-4168-8410-5CEB6291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7053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Los lotes reales mezclan nombres, fotografías, referencias y videos. La revisión manual consume tiempo y dificulta justificar por qué una prueba fue aceptada o rechazada.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1F3F5-AF1E-41DD-9B5D-4CFDD8BB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335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CBD2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5573C-A195-4E6A-B9EE-55A46A0D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La propuesta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3EF51-794F-4E1D-8C36-C58E12A3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05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9F8B0-59F0-4077-B0A1-426D76DD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Descubrir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9E5FC-A769-430E-A636-37951B06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324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Mapear carpetas sin asumir una profundidad fija.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AED6D-CEAD-42E1-8340-E4B900A9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67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40925-83B5-4427-BEAC-FEA2A06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48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Interpretar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BB41B-ED6C-4E53-A812-B0EFF841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4324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Extraer nomenclaturas y comparar etiqueta contra referencia.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5A422-6D6F-4F0C-A82D-3FCC404F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291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DED3D-C7E6-4A82-9F88-C012DB1F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Explicar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CFDA1-CE2A-4F0B-840E-4313EBB2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91100"/>
            <a:ext cx="4324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Consolidar el resultado en Excel y dashboard con reglas visibles.</a:t>
            </a:r>
          </a:p>
        </p:txBody>
      </p:sp>
    </p:spTree>
    <p:extLst>
      <p:ext uri="{BB962C8B-B14F-4D97-AF65-F5344CB8AC3E}">
        <p14:creationId xmlns:p14="http://schemas.microsoft.com/office/powerpoint/2010/main" val="1533865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3">
            <a:extLst xmlns:a="http://schemas.openxmlformats.org/drawingml/2006/main">
              <a:ext uri="{FF2B5EF4-FFF2-40B4-BE49-F238E27FC236}">
                <a16:creationId xmlns:a16="http://schemas.microsoft.com/office/drawing/2014/main" id="{7146CB23-EA4A-4DA4-B495-A43A75EE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SISTEMA OCR LOCAL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15BF73E-2CBC-40A0-A7A1-72544C2F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Cinco fases conectan la imagen con la decisión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1643E-BD49-4323-8495-5204DFB8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CBD2DA"/>
            </a:solidFill>
            <a:prstDash val="solid"/>
          </a:ln>
        </p:spPr>
      </p:sp>
      <p:sp>
        <p:nvSpPr>
          <p:cNvPr id="4" name="footer-name-3">
            <a:extLst xmlns:a="http://schemas.openxmlformats.org/drawingml/2006/main">
              <a:ext uri="{FF2B5EF4-FFF2-40B4-BE49-F238E27FC236}">
                <a16:creationId xmlns:a16="http://schemas.microsoft.com/office/drawing/2014/main" id="{CDA92A2B-C117-4A0B-B393-97394223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OCR-Validación-Excel</a:t>
            </a:r>
          </a:p>
        </p:txBody>
      </p:sp>
      <p:sp>
        <p:nvSpPr>
          <p:cNvPr id="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A888E0DF-4E25-4625-999C-CFD72AA4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701FE-2535-480A-A9E9-FCC6466F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62300"/>
            <a:ext cx="4953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E42C8-A0FC-433E-A254-2821D338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62300"/>
            <a:ext cx="4953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1AE91-D1BC-4D91-AE03-096CC358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62300"/>
            <a:ext cx="4953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8215E-AA2C-475F-A47F-7F34FD40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62300"/>
            <a:ext cx="4953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84D69-3019-4DE5-BBF5-286F0757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790700" cy="23241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94BE8-C67C-4162-B70D-88D54046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99D8D-4672-4896-8755-E5A0A6E2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Estructura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2AF82-4762-4B5E-8932-380D592C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1447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Recorrido recursivo y patrón dominante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746DE-F4C8-4E14-8207-0EAA76B1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90750"/>
            <a:ext cx="1790700" cy="23241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FAED5-BFFA-4992-B0F8-0D8DCCB9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BCE46-DDFD-41C8-A1B2-3C5DE8AE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OCR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419A23-989E-4755-8EEE-EA11E207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48050"/>
            <a:ext cx="1447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Orientación, deskew, QR y tokens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3A28D-E0C4-4077-844D-451806CA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1790700" cy="23241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F97E2-2A98-4DD3-B017-8B9FF457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D4BAA-89A7-4AF5-9449-2688BE40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527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Validación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C2636-B8FA-404B-8D5F-76E76082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48050"/>
            <a:ext cx="1447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Etiqueta ↔ referencia por códigos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EE1CC4-3210-4831-9DAE-42C4EB06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90750"/>
            <a:ext cx="1790700" cy="23241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94E3EA-171C-4448-870B-55D025E6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812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314CE9-F704-4CE0-BD5F-429860C9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Excel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C9A577-3BC8-48C0-BC0A-16C72F33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48050"/>
            <a:ext cx="1447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Dos hojas y matriz de cumplimiento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FA461-E1B7-4A0A-80B6-E6E05AF5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1790700" cy="23241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B06B98-A92E-4605-96BC-0774F92D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812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C08928-8AC7-47D7-80C4-7C6F04A2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527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563E9B-0DEE-4ADC-AF83-DA673A04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48050"/>
            <a:ext cx="1447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Resumen, detalle y nueva ejecución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79B741-C3FE-4673-87F7-907C3E06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72050"/>
            <a:ext cx="8686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 solo comando ejecuta las Fases 0–3; el dashboard reutiliza los artefactos y también puede iniciar una carpeta nueva.</a:t>
            </a:r>
          </a:p>
        </p:txBody>
      </p:sp>
    </p:spTree>
    <p:extLst>
      <p:ext uri="{BB962C8B-B14F-4D97-AF65-F5344CB8AC3E}">
        <p14:creationId xmlns:p14="http://schemas.microsoft.com/office/powerpoint/2010/main" val="1608314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4">
            <a:extLst xmlns:a="http://schemas.openxmlformats.org/drawingml/2006/main">
              <a:ext uri="{FF2B5EF4-FFF2-40B4-BE49-F238E27FC236}">
                <a16:creationId xmlns:a16="http://schemas.microsoft.com/office/drawing/2014/main" id="{A0975A6A-7F9E-4CA4-A2EA-E352338C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SISTEMA OCR LOCAL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74C3472-3D5C-4BE4-A18D-5AED72C5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El OCR resiste variaciones comunes de captura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DD102-7DC3-41DA-8003-87808291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CBD2DA"/>
            </a:solidFill>
            <a:prstDash val="solid"/>
          </a:ln>
        </p:spPr>
      </p:sp>
      <p:sp>
        <p:nvSpPr>
          <p:cNvPr id="4" name="footer-name-4">
            <a:extLst xmlns:a="http://schemas.openxmlformats.org/drawingml/2006/main">
              <a:ext uri="{FF2B5EF4-FFF2-40B4-BE49-F238E27FC236}">
                <a16:creationId xmlns:a16="http://schemas.microsoft.com/office/drawing/2014/main" id="{C45AA006-AA59-42EA-A67C-8FB28AFE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OCR-Validación-Excel</a:t>
            </a:r>
          </a:p>
        </p:txBody>
      </p:sp>
      <p:sp>
        <p:nvSpPr>
          <p:cNvPr id="5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DA70D20D-57BB-4EE9-ABE2-BEFB4E81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76eeaadab4b24"/>
          <a:stretch xmlns:a="http://schemas.openxmlformats.org/drawingml/2006/main"/>
        </p:blipFill>
        <p:spPr>
          <a:xfrm xmlns:a="http://schemas.openxmlformats.org/drawingml/2006/main">
            <a:off x="733425" y="1752600"/>
            <a:ext cx="54483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8E0AA-AC60-4501-A7FC-09800BA6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3E405-9727-4E49-99D7-FA4E2912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71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Orientación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34DD4-8338-4C74-AE88-484FBB95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Corrige giros 0/90/180/270 y aplica deskew fino.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E8AC6-4424-472D-8BF7-5060BC0A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0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2EBD4-90AA-4F0E-A221-77E4098B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62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Preprocesamiento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BAE25-F4D0-4651-8AA3-5E2D4FF8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242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Binarización adaptativa y carga segura de rutas Unicode.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A6170-6D47-4AE5-AD57-D1CFDDE5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909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32652-6C9A-4908-8287-26F4FCE1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52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QR como ancla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4151C-A579-42A3-A1F7-0B9A7EFD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148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Usa su geometría sin depender de decodificar el contenido.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941D9-D0B7-41E2-ACF1-8256BF14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815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F91225-9779-4540-9377-1DED4049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43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Red de seguridad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4701F-4923-4A8A-9A65-3B5B6E1D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054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Reintenta la imagen completa y usa EasyOCR como respaldo.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1593B-8401-4CAF-A37D-BA1800E1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53100"/>
            <a:ext cx="4286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AF9EF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47657-D31C-47C2-92E9-AD1E45B1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6740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Casos documentados: QR/sin QR, texto arriba/abajo, giro y skew.</a:t>
            </a:r>
          </a:p>
        </p:txBody>
      </p:sp>
    </p:spTree>
    <p:extLst>
      <p:ext uri="{BB962C8B-B14F-4D97-AF65-F5344CB8AC3E}">
        <p14:creationId xmlns:p14="http://schemas.microsoft.com/office/powerpoint/2010/main" val="16931524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5">
            <a:extLst xmlns:a="http://schemas.openxmlformats.org/drawingml/2006/main">
              <a:ext uri="{FF2B5EF4-FFF2-40B4-BE49-F238E27FC236}">
                <a16:creationId xmlns:a16="http://schemas.microsoft.com/office/drawing/2014/main" id="{20314F4A-3C00-4FC7-B5BD-12D236E6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SISTEMA OCR LOCAL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0841DB8-9E64-47A3-A006-D325E70D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 validación compara códigos, no solo fotografías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AC2EC-9B24-4E6E-A978-B6D005D1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CBD2DA"/>
            </a:solidFill>
            <a:prstDash val="solid"/>
          </a:ln>
        </p:spPr>
      </p:sp>
      <p:sp>
        <p:nvSpPr>
          <p:cNvPr id="4" name="footer-name-5">
            <a:extLst xmlns:a="http://schemas.openxmlformats.org/drawingml/2006/main">
              <a:ext uri="{FF2B5EF4-FFF2-40B4-BE49-F238E27FC236}">
                <a16:creationId xmlns:a16="http://schemas.microsoft.com/office/drawing/2014/main" id="{B9A2A4C4-75A8-408A-8C7A-8E8C8CA6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OCR-Validación-Excel</a:t>
            </a:r>
          </a:p>
        </p:txBody>
      </p:sp>
      <p:sp>
        <p:nvSpPr>
          <p:cNvPr id="5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46BA73D8-C086-4052-AFE9-069E88F4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C67A1-90DB-4A28-88EA-2800EA2C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Etiqueta detectada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328CF-5AE1-49FD-ABFA-820DC1E5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4095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F0C0B-B25F-4750-9ED4-A529F355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3600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ETQ-2024-A1-V2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636C9-06E2-4388-9B36-8D4D4198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Referencia seleccionada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2F46B-0287-4581-901B-AAF7430F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4095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C8DAC-141F-4617-9BF5-6CEC98E7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28900"/>
            <a:ext cx="3600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ETQ-2024-A1-V2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E93E2-3A58-40BC-A526-EB1F9ACD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28900"/>
            <a:ext cx="1752600" cy="43815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EAF9EF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345B3-7B06-4772-AF20-649B6C3F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106680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EB14F-D504-4DAC-BFB2-0B7F78D7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D6606-31C3-43F3-A6F1-70B9947E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Coincidencia total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1FB12-294C-4040-8334-E966BD44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Todos los códigos de etiqueta aparecen en la referencia.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2EDC6-170E-4D78-8E33-5891CDF3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6ED3C-5B5C-4367-B3D2-E1DA14B2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719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Coincidencia parcial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525EED-3B7E-4722-8CCA-71E78CD2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Solo una parte de los tokens normalizados coincide.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35417-C99E-442A-8E12-24A970DA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880741-B52F-4425-BEA6-14F00FCE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Discrepancia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89CFE-6954-4892-AC7F-83B97F5C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No coincide el código o falta una referencia confiable.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280F76-1961-4F92-B219-4A1C0F0D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9595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La normalización ignora mayúsculas y separadores; la heurística de referencia permanece configurable.</a:t>
            </a:r>
          </a:p>
        </p:txBody>
      </p:sp>
    </p:spTree>
    <p:extLst>
      <p:ext uri="{BB962C8B-B14F-4D97-AF65-F5344CB8AC3E}">
        <p14:creationId xmlns:p14="http://schemas.microsoft.com/office/powerpoint/2010/main" val="628880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6">
            <a:extLst xmlns:a="http://schemas.openxmlformats.org/drawingml/2006/main">
              <a:ext uri="{FF2B5EF4-FFF2-40B4-BE49-F238E27FC236}">
                <a16:creationId xmlns:a16="http://schemas.microsoft.com/office/drawing/2014/main" id="{52C67491-65B1-4F8F-B5B2-12748E47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SISTEMA OCR LOCAL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9323EE7-C56A-44A8-BAD9-B9406477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El semáforo muestra el riesgo más restrictivo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491A3-2380-419A-9CAA-C1FB39C7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CBD2DA"/>
            </a:solidFill>
            <a:prstDash val="solid"/>
          </a:ln>
        </p:spPr>
      </p:sp>
      <p:sp>
        <p:nvSpPr>
          <p:cNvPr id="4" name="footer-name-6">
            <a:extLst xmlns:a="http://schemas.openxmlformats.org/drawingml/2006/main">
              <a:ext uri="{FF2B5EF4-FFF2-40B4-BE49-F238E27FC236}">
                <a16:creationId xmlns:a16="http://schemas.microsoft.com/office/drawing/2014/main" id="{74034549-F0A2-4BA9-A286-C5E9366A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OCR-Validación-Excel</a:t>
            </a:r>
          </a:p>
        </p:txBody>
      </p:sp>
      <p:sp>
        <p:nvSpPr>
          <p:cNvPr id="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1CB6FEBE-5919-4BBE-ADEC-C1CDC38D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30C69-60A7-492D-A714-2DA820FD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Confianza OCR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9A900-1782-4161-806A-6D3AB2D8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2F237-98ED-4E91-B154-F8409A4E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Verde ≥ 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D2FC7-1876-4F17-94AC-7B5FBD4F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Lectura con confianza alta.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7718B-DE2C-4125-A6DF-C6CAA237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B1DC2-01FE-40D0-ABA4-12F0EB1F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Amarillo 70–89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82ADA-ED79-4B2D-9C5F-8C363F93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Lectura útil que merece revisión.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3A77D-E156-44D4-8BCC-9C7CD2D1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58FD1-009B-4E34-A260-730E6E21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Rojo &lt; 70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BC942-F982-4120-A0CE-B435A42C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Lectura de baja confianza.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888D9-DFEB-46CF-A602-85978B0D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CBD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9B9A7-53C8-4F88-95D8-F9E46475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09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Coincidencia de texto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A193B-1FEE-477C-B6C4-B3FF63E0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00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C5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2C55E"/>
                </a:solidFill>
                <a:latin typeface="Helvetica Neue"/>
                <a:ea typeface="Helvetica Neue"/>
                <a:cs typeface="Helvetica Neue"/>
              </a:rPr>
              <a:t>Total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BF328-DC2C-4897-9811-B944D39B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Parcial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D8B94-C8BE-4A31-B870-AD940A18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386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F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F4444"/>
                </a:solidFill>
                <a:latin typeface="Helvetica Neue"/>
                <a:ea typeface="Helvetica Neue"/>
                <a:cs typeface="Helvetica Neue"/>
              </a:rPr>
              <a:t>Discrepancia / sin referencia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2A8C8-A60D-44FF-8FCA-F5077781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495550" cy="25717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C1D92-D9FE-4C0F-8CB4-5FB80B94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Regla global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73484B-1F26-4D54-AA7E-6C942B7D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1924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 conserva el color más restrictivo entre todos los criterios evaluados.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264257-A108-4C3A-B9D8-D1ED00E9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62550"/>
            <a:ext cx="588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Ejemplo: confianza verde + discrepancia roja = resultado global rojo.</a:t>
            </a:r>
          </a:p>
        </p:txBody>
      </p:sp>
    </p:spTree>
    <p:extLst>
      <p:ext uri="{BB962C8B-B14F-4D97-AF65-F5344CB8AC3E}">
        <p14:creationId xmlns:p14="http://schemas.microsoft.com/office/powerpoint/2010/main" val="495310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7">
            <a:extLst xmlns:a="http://schemas.openxmlformats.org/drawingml/2006/main">
              <a:ext uri="{FF2B5EF4-FFF2-40B4-BE49-F238E27FC236}">
                <a16:creationId xmlns:a16="http://schemas.microsoft.com/office/drawing/2014/main" id="{3935579F-D27B-4A49-A606-6C537E07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EVIDENCIA DE DEMOSTRACIÓN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9D000987-687A-40CB-9900-D4CD0B1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El lote sintético confirma el flujo completo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5E8CB-FC9A-41FD-957E-5EC191EF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CBD2DA"/>
            </a:solidFill>
            <a:prstDash val="solid"/>
          </a:ln>
        </p:spPr>
      </p:sp>
      <p:sp>
        <p:nvSpPr>
          <p:cNvPr id="4" name="footer-name-7">
            <a:extLst xmlns:a="http://schemas.openxmlformats.org/drawingml/2006/main">
              <a:ext uri="{FF2B5EF4-FFF2-40B4-BE49-F238E27FC236}">
                <a16:creationId xmlns:a16="http://schemas.microsoft.com/office/drawing/2014/main" id="{CE112C60-D4C7-40DF-A05D-F8AAFE42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OCR-Validación-Excel</a:t>
            </a:r>
          </a:p>
        </p:txBody>
      </p:sp>
      <p:sp>
        <p:nvSpPr>
          <p:cNvPr id="5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A0505A36-A7D1-4DE8-9EB3-8AA3DAF8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47700" y="1809750"/>
          <a:ext xmlns:a="http://schemas.openxmlformats.org/drawingml/2006/main" cx="5048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e63e440d3b46f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B2673-9356-48E7-B82E-2C7281E0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48196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8AB17-4C70-4CA9-82D7-E8211BA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8C196-1CE0-43FC-9327-0481E989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812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carpetas recorridas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F2D49-9444-4602-BC18-F7A9C746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Incluye una carpeta no evaluable.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AD0CD-28F2-401E-A213-2C4F2BD1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1350"/>
            <a:ext cx="48196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F1AA5-3444-4FB9-9186-3F005008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909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2C101-E17A-4112-8368-2EEF1C67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pruebas procesadas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5E2D0-840F-4336-B019-2E11AA0C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Cada una conserva evidencia y resultado.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94901-428F-459F-8AEC-910617DF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48196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955C79-468C-4394-9FD0-8FD3703E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81.5%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1805E-DA27-47ED-A646-BBBE7A36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confianza media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92D3E-8F85-49E9-854F-8648FA5A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244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Promedio OCR del lote de demostración.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6D22D-9867-4168-94DF-164753C1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626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F4444"/>
                </a:solidFill>
                <a:latin typeface="Helvetica Neue"/>
                <a:ea typeface="Helvetica Neue"/>
                <a:cs typeface="Helvetica Neue"/>
              </a:rPr>
              <a:t>Estos valores validan la integración; la precisión final debe calibrarse con imágenes reales representativas.</a:t>
            </a:r>
          </a:p>
        </p:txBody>
      </p:sp>
    </p:spTree>
    <p:extLst>
      <p:ext uri="{BB962C8B-B14F-4D97-AF65-F5344CB8AC3E}">
        <p14:creationId xmlns:p14="http://schemas.microsoft.com/office/powerpoint/2010/main" val="18280221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8">
            <a:extLst xmlns:a="http://schemas.openxmlformats.org/drawingml/2006/main">
              <a:ext uri="{FF2B5EF4-FFF2-40B4-BE49-F238E27FC236}">
                <a16:creationId xmlns:a16="http://schemas.microsoft.com/office/drawing/2014/main" id="{6D00E9D4-5880-4465-96FB-F44A8BA5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SISTEMA OCR LOCAL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4E43FFCA-D31B-4480-8DFC-CD1A1816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Excel y dashboard usan la misma lógica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D2034-444C-4113-A83D-283C9C09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CBD2DA"/>
            </a:solidFill>
            <a:prstDash val="solid"/>
          </a:ln>
        </p:spPr>
      </p:sp>
      <p:sp>
        <p:nvSpPr>
          <p:cNvPr id="4" name="footer-name-8">
            <a:extLst xmlns:a="http://schemas.openxmlformats.org/drawingml/2006/main">
              <a:ext uri="{FF2B5EF4-FFF2-40B4-BE49-F238E27FC236}">
                <a16:creationId xmlns:a16="http://schemas.microsoft.com/office/drawing/2014/main" id="{9AF26ACC-6079-409C-A39A-B2E73708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OCR-Validación-Excel</a:t>
            </a:r>
          </a:p>
        </p:txBody>
      </p:sp>
      <p:sp>
        <p:nvSpPr>
          <p:cNvPr id="5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FDC9DE41-D68D-4A3E-B1F7-01BAA127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EDE52-5A9E-4956-8C83-C4C5926C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Resumen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7B59C-E6E9-4F7D-898D-154F225B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1752600" cy="37909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092a0750a499b"/>
          <a:stretch xmlns:a="http://schemas.openxmlformats.org/drawingml/2006/main"/>
        </p:blipFill>
        <p:spPr>
          <a:xfrm xmlns:a="http://schemas.openxmlformats.org/drawingml/2006/main">
            <a:off x="1104900" y="2281653"/>
            <a:ext cx="1562100" cy="3380545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F2D2A-E94C-459A-9F52-AB1DC603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Listado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22FA7-F461-40FA-B155-51CF98A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76450"/>
            <a:ext cx="1752600" cy="37909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5a00303a84b6c"/>
          <a:stretch xmlns:a="http://schemas.openxmlformats.org/drawingml/2006/main"/>
        </p:blipFill>
        <p:spPr>
          <a:xfrm xmlns:a="http://schemas.openxmlformats.org/drawingml/2006/main">
            <a:off x="3867150" y="2281653"/>
            <a:ext cx="1562100" cy="3380545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55E13-425E-475D-8A79-95E83177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Procesar carpeta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F73F5-C6A5-4D86-8ADD-9CD324B0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1752600" cy="37909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c7ab58050471a"/>
          <a:stretch xmlns:a="http://schemas.openxmlformats.org/drawingml/2006/main"/>
        </p:blipFill>
        <p:spPr>
          <a:xfrm xmlns:a="http://schemas.openxmlformats.org/drawingml/2006/main">
            <a:off x="6629400" y="2281653"/>
            <a:ext cx="1562100" cy="3380545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6857F-C5FC-4BBE-BAF1-0ACB98D0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76450"/>
            <a:ext cx="2247900" cy="3790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FE7C1-81A7-4FEA-BC81-25AFA604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XLSX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6E8FE-B58B-4C3E-93F4-33001050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909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41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Estructura completa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32FA2-725C-4B79-919E-CC74D02A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6240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Matriz de cumplimiento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AE7A1-1969-4C3F-840F-0CD808A6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1490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Mismos estados y colores definidos en YAML</a:t>
            </a:r>
          </a:p>
        </p:txBody>
      </p:sp>
    </p:spTree>
    <p:extLst>
      <p:ext uri="{BB962C8B-B14F-4D97-AF65-F5344CB8AC3E}">
        <p14:creationId xmlns:p14="http://schemas.microsoft.com/office/powerpoint/2010/main" val="13768231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9">
            <a:extLst xmlns:a="http://schemas.openxmlformats.org/drawingml/2006/main">
              <a:ext uri="{FF2B5EF4-FFF2-40B4-BE49-F238E27FC236}">
                <a16:creationId xmlns:a16="http://schemas.microsoft.com/office/drawing/2014/main" id="{CDFAA3D8-D37B-4CA8-ACB6-EF529091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SISTEMA OCR LOCAL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C5C06FC0-4CE9-432A-A9E7-8CC38794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Procesar por ruta mantiene los archivos locales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D4EF8-97CE-44B3-B37B-00B7496D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CBD2DA"/>
            </a:solidFill>
            <a:prstDash val="solid"/>
          </a:ln>
        </p:spPr>
      </p:sp>
      <p:sp>
        <p:nvSpPr>
          <p:cNvPr id="4" name="footer-name-9">
            <a:extLst xmlns:a="http://schemas.openxmlformats.org/drawingml/2006/main">
              <a:ext uri="{FF2B5EF4-FFF2-40B4-BE49-F238E27FC236}">
                <a16:creationId xmlns:a16="http://schemas.microsoft.com/office/drawing/2014/main" id="{5679A3F5-3DAD-4CCA-97A4-CE1137EE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OCR-Validación-Excel</a:t>
            </a:r>
          </a:p>
        </p:txBody>
      </p:sp>
      <p:sp>
        <p:nvSpPr>
          <p:cNvPr id="5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051905D7-961A-4A5A-BD08-C9CA190F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A0C84-865B-40D1-B92E-1F8C8701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3238500" cy="42672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979b3a7554792"/>
          <a:stretch xmlns:a="http://schemas.openxmlformats.org/drawingml/2006/main"/>
        </p:blipFill>
        <p:spPr>
          <a:xfrm xmlns:a="http://schemas.openxmlformats.org/drawingml/2006/main">
            <a:off x="1456964" y="1828800"/>
            <a:ext cx="1848572" cy="40005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41EF5-4F4D-47ED-BFAA-15BCB58D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12763-AE5F-4F4A-97CA-868B1FD7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0975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Sin carga al navegador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64293-904E-46D4-B94E-E8708B43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El usuario pega una ruta absoluta o relativa; no se duplican lotes grandes.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4EE81-53F2-4F2D-A757-D02877CD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8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A5C19-8134-4EC8-B187-69EA3008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3845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Servidor restringido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6377B-DEDA-4567-B5C0-8CD9FABB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004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FastAPI escucha en 127.0.0.1 y valida las rutas de imágenes autorizadas.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49F98-14F1-401D-8439-82A03EEE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67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3FA1F-5BDF-4D4C-8740-C18216C9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6715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Frontend reproducible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911DC-85E5-45B4-9F6D-DF848331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291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React y HTM están vendorizados localmente; no requiere CDN ni build de producción.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8F334-B229-4241-AF01-8A7D1C5C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95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9EEB3-283B-48E6-BEDC-05A05AE6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9585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Control de ejecución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C1EB66-D721-4749-9532-BFCC170F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2578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Solo se procesa una carpeta a la vez para proteger memoria y artefactos maestros.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C3FB8-7906-4FE4-BD8E-5BBFABC9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715000"/>
            <a:ext cx="64389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9EF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9759C-A949-4287-AF7A-1F1CC392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3882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Resultado: operación local, reproducible y adecuada para evidencias sensibles.</a:t>
            </a:r>
          </a:p>
        </p:txBody>
      </p:sp>
    </p:spTree>
    <p:extLst>
      <p:ext uri="{BB962C8B-B14F-4D97-AF65-F5344CB8AC3E}">
        <p14:creationId xmlns:p14="http://schemas.microsoft.com/office/powerpoint/2010/main" val="12389319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10">
            <a:extLst xmlns:a="http://schemas.openxmlformats.org/drawingml/2006/main">
              <a:ext uri="{FF2B5EF4-FFF2-40B4-BE49-F238E27FC236}">
                <a16:creationId xmlns:a16="http://schemas.microsoft.com/office/drawing/2014/main" id="{05CFABBE-C569-4A80-82AF-20E9E39F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CIERRE Y SIGUIENTES PASOS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B3A1B659-D5B0-4E3D-8F75-90AD275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 versión actual ya permite una evaluación técnica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C93E8-2261-4DDB-8525-21D1FEF7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CBD2DA"/>
            </a:solidFill>
            <a:prstDash val="solid"/>
          </a:ln>
        </p:spPr>
      </p:sp>
      <p:sp>
        <p:nvSpPr>
          <p:cNvPr id="4" name="footer-name-10">
            <a:extLst xmlns:a="http://schemas.openxmlformats.org/drawingml/2006/main">
              <a:ext uri="{FF2B5EF4-FFF2-40B4-BE49-F238E27FC236}">
                <a16:creationId xmlns:a16="http://schemas.microsoft.com/office/drawing/2014/main" id="{788C5D76-8BA1-49E0-A3BD-D9C37982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OCR-Validación-Excel</a:t>
            </a:r>
          </a:p>
        </p:txBody>
      </p:sp>
      <p:sp>
        <p:nvSpPr>
          <p:cNvPr id="5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F1832FAF-869A-4D84-8615-7D3E7A54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14057-6ECF-42B6-B681-8243E6D1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2C55E"/>
                </a:solidFill>
                <a:latin typeface="Helvetica Neue"/>
                <a:ea typeface="Helvetica Neue"/>
                <a:cs typeface="Helvetica Neue"/>
              </a:rPr>
              <a:t>Lo demostrado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E0F12-85AB-4745-972F-D8162337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✓  Pipeline local completo de Fases 0–3.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✓  Dashboard FastAPI + React con cuatro vistas.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✓  Excel maestro generado con reglas compartidas.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✓  5 pruebas automatizadas del dashboard aprobadas.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✓  Documentación de mantenimiento por fase.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701B2-EE8E-4DCE-A57E-1A5722FF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CBD2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C148D-97F4-4B76-8457-DDDBC0B6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Lo siguiente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A78F5-F2FB-43E4-9DA8-BA41A0E4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50101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→  Calibrar umbrales con lotes reales etiquetados.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→  Medir precisión por tipo de imagen y condición de captura.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→  Agregar comparación opcional entre nombre de carpeta y OCR.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→  Preparar dataset y fine-tuning solo si la línea base lo justifica.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→  Añadir revisión humana persistente y autenticación si se despliega en red.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37848-CC4E-451B-AA18-9D7F21C8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10058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A26D8-751E-4EFA-A884-3179D2AF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19750"/>
            <a:ext cx="937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96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Conclusión: el proyecto ya es funcional y trazable; la siguiente etapa es convertir la demostración en una métrica validada con datos reales.</a:t>
            </a:r>
          </a:p>
        </p:txBody>
      </p:sp>
    </p:spTree>
    <p:extLst>
      <p:ext uri="{BB962C8B-B14F-4D97-AF65-F5344CB8AC3E}">
        <p14:creationId xmlns:p14="http://schemas.microsoft.com/office/powerpoint/2010/main" val="961494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2026-08-24T05:58:55.4600000Z</dcterms:created>
  <dcterms:modified xsi:type="dcterms:W3CDTF">2026-08-24T05:58:55.4600000Z</dcterms:modified>
</coreProperties>
</file>